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B02458-61D6-4081-AF1D-1142EACC30B1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50E06B-084B-4D4C-B804-537EA45AD1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6091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出典：ユーザー提示のプロジェクト基本要件、</a:t>
            </a:r>
            <a:r>
              <a:rPr kumimoji="1" lang="en-US" altLang="ja-JP"/>
              <a:t>docs/basic-requirements.md</a:t>
            </a:r>
            <a:r>
              <a:rPr kumimoji="1" lang="ja-JP" altLang="en-US"/>
              <a:t>（</a:t>
            </a:r>
            <a:r>
              <a:rPr kumimoji="1" lang="en-US" altLang="ja-JP"/>
              <a:t>2026-10-01</a:t>
            </a:r>
            <a:r>
              <a:rPr kumimoji="1" lang="ja-JP" altLang="en-US"/>
              <a:t>）、現行実装 </a:t>
            </a:r>
            <a:r>
              <a:rPr kumimoji="1" lang="en-US" altLang="ja-JP"/>
              <a:t>electron/analysis-service.cjs</a:t>
            </a:r>
            <a:r>
              <a:rPr kumimoji="1" lang="ja-JP" altLang="en-US"/>
              <a:t>、</a:t>
            </a:r>
            <a:r>
              <a:rPr kumimoji="1" lang="en-US" altLang="ja-JP"/>
              <a:t>electron/automation-service.cjs</a:t>
            </a:r>
            <a:r>
              <a:rPr kumimoji="1" lang="ja-JP" altLang="en-US"/>
              <a:t>、</a:t>
            </a:r>
            <a:r>
              <a:rPr kumimoji="1" lang="en-US" altLang="ja-JP"/>
              <a:t>dist/index.html</a:t>
            </a:r>
            <a:r>
              <a:rPr kumimoji="1" lang="ja-JP" altLang="en-US"/>
              <a:t>。
</a:t>
            </a:r>
            <a:r>
              <a:rPr kumimoji="1" lang="en-US" altLang="ja-JP"/>
              <a:t>PoC</a:t>
            </a:r>
            <a:r>
              <a:rPr kumimoji="1" lang="ja-JP" altLang="en-US"/>
              <a:t>の目的は効率化および低コスト化（主に人件費）。評価方法・指標は説明用の提案であり、合意済みの実験計画や実測結果ではない。
</a:t>
            </a:r>
            <a:r>
              <a:rPr kumimoji="1" lang="en-US" altLang="ja-JP"/>
              <a:t>JSTQB FL</a:t>
            </a:r>
            <a:r>
              <a:rPr kumimoji="1" lang="ja-JP" altLang="en-US"/>
              <a:t>は</a:t>
            </a:r>
            <a:r>
              <a:rPr kumimoji="1" lang="en-US" altLang="ja-JP"/>
              <a:t>Foundation Level</a:t>
            </a:r>
            <a:r>
              <a:rPr kumimoji="1" lang="ja-JP" altLang="en-US"/>
              <a:t>。資料の精度を問わず、現物も確認しながら観点を導出することを基本要件とする。現行実装の観点生成は資料分析が中心であり、実行時の</a:t>
            </a:r>
            <a:r>
              <a:rPr kumimoji="1" lang="en-US" altLang="ja-JP"/>
              <a:t>DOM</a:t>
            </a:r>
            <a:r>
              <a:rPr kumimoji="1" lang="ja-JP" altLang="en-US"/>
              <a:t>探索と、観点導出時の現物確認は区別する。
人件費は役割別の実作業時間と時間単価で算出する想定。準備・レビュー・修正・実行・結果確認の工数と、</a:t>
            </a:r>
            <a:r>
              <a:rPr kumimoji="1" lang="en-US" altLang="ja-JP"/>
              <a:t>AI</a:t>
            </a:r>
            <a:r>
              <a:rPr kumimoji="1" lang="ja-JP" altLang="en-US"/>
              <a:t>・ツール利用料を含めて比較する。</a:t>
            </a:r>
            <a:r>
              <a:rPr kumimoji="1" lang="en-US" altLang="ja-JP"/>
              <a:t>AI</a:t>
            </a:r>
            <a:r>
              <a:rPr kumimoji="1" lang="ja-JP" altLang="en-US"/>
              <a:t>処理の待ち時間と人が作業する時間も分けて測定する。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E06B-084B-4D4C-B804-537EA45AD1C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5566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2BB29-D9C5-A959-0E63-4CA77DB2F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B5A363D-950E-007B-FC85-BA0A3A81F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DF48E2-7CC2-81A2-DD95-34A344ED4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B6040-D429-405E-ADA7-DD86FB7DF35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9E4835-913E-6743-B5C9-666FE480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1979100-B49C-2450-BA95-E6B326871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C057-AAFF-448D-962C-D0CC4E22AE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3918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8C27B4-3FBD-CB82-0300-70D1A069D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0A9D62-3F0E-87F8-3D45-B6489B873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F7A5D9-D366-D942-4851-41B23EED8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B6040-D429-405E-ADA7-DD86FB7DF35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58C701-BD9E-B176-4FA8-5F02756AF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9AE752-3756-A463-A535-AF0D0D68A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C057-AAFF-448D-962C-D0CC4E22AE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562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9DF2C4-3062-8808-DA6A-71380C1EB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DD0325-C370-DF81-927A-06EB02230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2BAB21-D18B-64D3-CAF9-886AE707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B6040-D429-405E-ADA7-DD86FB7DF35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62D289-F186-94D9-9655-EB944230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457EBB-8D69-18E0-B120-67883CEA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C057-AAFF-448D-962C-D0CC4E22AE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49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931519-3AA0-5FFB-F95A-4134315AF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58E2EF-3B7F-AED5-E3EA-A3BC96647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14E294-0D69-0508-7D6F-4CDB68B22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CCAFDC-2166-1826-A956-11FDE4A3A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B6040-D429-405E-ADA7-DD86FB7DF35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E5232A1-64DD-1DAD-AD85-A44F7FAF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DF23C1-9D52-6C7C-A974-DE211EB5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C057-AAFF-448D-962C-D0CC4E22AE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1736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FFD8B7-797C-06C0-8A2F-989A6C956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2BAB29-86AD-7DC8-2A10-94B49CC81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A78076-B010-E636-D882-BD84F14188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881BFC2-AF06-D7EF-0738-0395BD91BD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EE632A-A038-A219-04D4-D3E653E3E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71A0809-08AB-ED48-A9C6-F88784A1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B6040-D429-405E-ADA7-DD86FB7DF35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689B951-9ABC-5E93-EFB5-3ECC78A0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7F4D342-94ED-E141-80BE-AEBEB5C98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C057-AAFF-448D-962C-D0CC4E22AE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6752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94BBB2-019C-DDA3-1F77-7513F1014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D52EFA1-B340-7ACB-3063-5C9186172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B6040-D429-405E-ADA7-DD86FB7DF35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B9C1E51-E767-5FD6-8869-A525EEDE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ED7A57-5115-3794-8F97-4806F658C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C057-AAFF-448D-962C-D0CC4E22AE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8467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7E39471-AE7B-60D1-1D33-049FDE76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B6040-D429-405E-ADA7-DD86FB7DF35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41CF509-6931-2399-FD69-A07E948C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B5E896-E92F-2B9B-3F8B-4CE2B40A3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C057-AAFF-448D-962C-D0CC4E22AE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4887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407F95-4DC5-1325-DD9E-9EFADEAD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4BACE2-6CA0-2800-58FF-5BB2E6F47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33697F-92E2-8680-268D-BB96AA2FB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832269-00A3-8071-0FF9-121CC55D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B6040-D429-405E-ADA7-DD86FB7DF35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4B2066-B4CC-D2D5-3F4F-671DFBD4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975A0F-6353-8694-939C-B6CE70B3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C057-AAFF-448D-962C-D0CC4E22AE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8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C2E8CA-4B04-E3C6-5378-B94586CE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FB6AE57-6E65-03E6-5651-C02B36A76C2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A7BD48-AC45-37B2-02D0-77FFCDB05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69BC6D-6BC1-77B1-AB2D-862D95160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B6040-D429-405E-ADA7-DD86FB7DF35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B15863-DDA7-0D60-609F-318E27DF1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73B1CA-AD2D-0844-15AF-A64DB41F5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C057-AAFF-448D-962C-D0CC4E22AE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1223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9D013A-132A-BB33-04D8-24EBA107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211D19-4F45-F381-02AA-90033B39C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6FF3B9-8390-B8EB-A205-DFD491ED4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B6040-D429-405E-ADA7-DD86FB7DF35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2C0B02-58A1-F9FE-774F-A10D6B5A5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37C8AF-B7AD-6880-ED29-73EF6B557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C057-AAFF-448D-962C-D0CC4E22AE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5860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B3FFE0D-B266-D097-6E55-F9FCFD55D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7709664-1854-9C58-F799-F21C65A01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E9A0A6-9BAF-5B56-70E3-CB0569C06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B6040-D429-405E-ADA7-DD86FB7DF35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C4FD45-855D-6E8F-ED47-F241582A7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60B125-1C23-7DBE-6DDD-6BD9C6CF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4C057-AAFF-448D-962C-D0CC4E22AE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338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9B48665-C705-018C-8185-EF2ABC24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8A44A4-F97D-4F6F-8882-5CDC3668B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65D491-BFF4-51FF-8CB5-B8E4983FB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B6040-D429-405E-ADA7-DD86FB7DF35E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A46147-60FA-BAE8-B2D9-A46099AE8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8A7DE0-4449-937D-BD3A-E46FEDE08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4C057-AAFF-448D-962C-D0CC4E22AED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2968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392C5CC-E3AC-FA12-66B3-21C79C4BD010}"/>
              </a:ext>
            </a:extLst>
          </p:cNvPr>
          <p:cNvSpPr txBox="1"/>
          <p:nvPr/>
        </p:nvSpPr>
        <p:spPr>
          <a:xfrm>
            <a:off x="508000" y="330199"/>
            <a:ext cx="103886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3200" b="1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MOWRA</a:t>
            </a:r>
            <a:r>
              <a:rPr kumimoji="1" lang="ja-JP" altLang="en-US" sz="3200" b="1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：テスト自動化支援の</a:t>
            </a:r>
            <a:r>
              <a:rPr kumimoji="1" lang="en-US" altLang="ja-JP" sz="3200" b="1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PoC</a:t>
            </a:r>
            <a:endParaRPr kumimoji="1" lang="ja-JP" altLang="en-US" sz="3200" b="1">
              <a:solidFill>
                <a:srgbClr val="243730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B8C2FC4-E891-6E3B-1A35-84B143335F6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304800"/>
            <a:ext cx="685800" cy="685800"/>
          </a:xfrm>
          <a:prstGeom prst="rect">
            <a:avLst/>
          </a:prstGeom>
        </p:spPr>
      </p:pic>
      <p:sp>
        <p:nvSpPr>
          <p:cNvPr id="5" name="Purpose">
            <a:extLst>
              <a:ext uri="{FF2B5EF4-FFF2-40B4-BE49-F238E27FC236}">
                <a16:creationId xmlns:a16="http://schemas.microsoft.com/office/drawing/2014/main" id="{1CAED3A2-DAB0-8479-5911-657E4F068690}"/>
              </a:ext>
            </a:extLst>
          </p:cNvPr>
          <p:cNvSpPr txBox="1"/>
          <p:nvPr/>
        </p:nvSpPr>
        <p:spPr>
          <a:xfrm>
            <a:off x="508000" y="1104899"/>
            <a:ext cx="11176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500" b="1">
                <a:solidFill>
                  <a:srgbClr val="24674E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設計・打鍵を効率化し、人件費を下げられるかを検証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7CB5129A-92AB-67AA-11AA-A1579E4CFF5F}"/>
              </a:ext>
            </a:extLst>
          </p:cNvPr>
          <p:cNvSpPr txBox="1"/>
          <p:nvPr/>
        </p:nvSpPr>
        <p:spPr>
          <a:xfrm>
            <a:off x="508000" y="1828799"/>
            <a:ext cx="111760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簡単なテストの設計と打鍵を支援する、ソフトウェアテストの自動化支援ツール。</a:t>
            </a:r>
          </a:p>
          <a:p>
            <a:r>
              <a:rPr kumimoji="1" lang="ja-JP" altLang="en-US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必要なスキルを下げ、経験の浅いテスターでも扱えることを目指す。</a:t>
            </a:r>
          </a:p>
        </p:txBody>
      </p:sp>
      <p:sp>
        <p:nvSpPr>
          <p:cNvPr id="7" name="AppHeading">
            <a:extLst>
              <a:ext uri="{FF2B5EF4-FFF2-40B4-BE49-F238E27FC236}">
                <a16:creationId xmlns:a16="http://schemas.microsoft.com/office/drawing/2014/main" id="{01BA16A8-8AE0-026F-80E0-9BA2CAD02ABE}"/>
              </a:ext>
            </a:extLst>
          </p:cNvPr>
          <p:cNvSpPr txBox="1"/>
          <p:nvPr/>
        </p:nvSpPr>
        <p:spPr>
          <a:xfrm>
            <a:off x="508000" y="2844799"/>
            <a:ext cx="54864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100" b="1">
                <a:solidFill>
                  <a:srgbClr val="24674E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アプリが目指す使い方</a:t>
            </a:r>
          </a:p>
        </p:txBody>
      </p:sp>
      <p:sp>
        <p:nvSpPr>
          <p:cNvPr id="8" name="Step1Number">
            <a:extLst>
              <a:ext uri="{FF2B5EF4-FFF2-40B4-BE49-F238E27FC236}">
                <a16:creationId xmlns:a16="http://schemas.microsoft.com/office/drawing/2014/main" id="{00BB50D9-012B-3E8E-1670-B2434FCC9F24}"/>
              </a:ext>
            </a:extLst>
          </p:cNvPr>
          <p:cNvSpPr txBox="1"/>
          <p:nvPr/>
        </p:nvSpPr>
        <p:spPr>
          <a:xfrm>
            <a:off x="508000" y="3403599"/>
            <a:ext cx="482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b="1">
                <a:solidFill>
                  <a:srgbClr val="24674E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01</a:t>
            </a:r>
            <a:endParaRPr kumimoji="1" lang="ja-JP" altLang="en-US" b="1">
              <a:solidFill>
                <a:srgbClr val="24674E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9" name="Step1">
            <a:extLst>
              <a:ext uri="{FF2B5EF4-FFF2-40B4-BE49-F238E27FC236}">
                <a16:creationId xmlns:a16="http://schemas.microsoft.com/office/drawing/2014/main" id="{B3F14B3B-EAC5-2EFE-DD02-BE95059D6C72}"/>
              </a:ext>
            </a:extLst>
          </p:cNvPr>
          <p:cNvSpPr txBox="1"/>
          <p:nvPr/>
        </p:nvSpPr>
        <p:spPr>
          <a:xfrm>
            <a:off x="1066800" y="3378199"/>
            <a:ext cx="49022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資料を</a:t>
            </a:r>
            <a:r>
              <a:rPr kumimoji="1" lang="en-US" altLang="ja-JP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Codex</a:t>
            </a:r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／</a:t>
            </a:r>
            <a:r>
              <a:rPr kumimoji="1" lang="en-US" altLang="ja-JP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Claude</a:t>
            </a:r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へ渡し、</a:t>
            </a:r>
          </a:p>
          <a:p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古い・不完全な資料も現物で補う</a:t>
            </a:r>
          </a:p>
        </p:txBody>
      </p:sp>
      <p:sp>
        <p:nvSpPr>
          <p:cNvPr id="10" name="Step2Number">
            <a:extLst>
              <a:ext uri="{FF2B5EF4-FFF2-40B4-BE49-F238E27FC236}">
                <a16:creationId xmlns:a16="http://schemas.microsoft.com/office/drawing/2014/main" id="{9C3C5CE1-68A3-D4EF-E7A4-9666C4346C14}"/>
              </a:ext>
            </a:extLst>
          </p:cNvPr>
          <p:cNvSpPr txBox="1"/>
          <p:nvPr/>
        </p:nvSpPr>
        <p:spPr>
          <a:xfrm>
            <a:off x="508000" y="4140199"/>
            <a:ext cx="482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b="1">
                <a:solidFill>
                  <a:srgbClr val="24674E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02</a:t>
            </a:r>
            <a:endParaRPr kumimoji="1" lang="ja-JP" altLang="en-US" b="1">
              <a:solidFill>
                <a:srgbClr val="24674E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11" name="Step2">
            <a:extLst>
              <a:ext uri="{FF2B5EF4-FFF2-40B4-BE49-F238E27FC236}">
                <a16:creationId xmlns:a16="http://schemas.microsoft.com/office/drawing/2014/main" id="{F4C03BDE-7AC1-8A22-E40A-9E363F429BFF}"/>
              </a:ext>
            </a:extLst>
          </p:cNvPr>
          <p:cNvSpPr txBox="1"/>
          <p:nvPr/>
        </p:nvSpPr>
        <p:spPr>
          <a:xfrm>
            <a:off x="1066800" y="4114799"/>
            <a:ext cx="49022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JSTQB FL</a:t>
            </a:r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を基に観点・ケースを設計し、</a:t>
            </a:r>
          </a:p>
          <a:p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人が確認・合意する</a:t>
            </a:r>
          </a:p>
        </p:txBody>
      </p:sp>
      <p:sp>
        <p:nvSpPr>
          <p:cNvPr id="12" name="Step3Number">
            <a:extLst>
              <a:ext uri="{FF2B5EF4-FFF2-40B4-BE49-F238E27FC236}">
                <a16:creationId xmlns:a16="http://schemas.microsoft.com/office/drawing/2014/main" id="{7AA66B2F-CEAC-473F-5BB9-78D644559502}"/>
              </a:ext>
            </a:extLst>
          </p:cNvPr>
          <p:cNvSpPr txBox="1"/>
          <p:nvPr/>
        </p:nvSpPr>
        <p:spPr>
          <a:xfrm>
            <a:off x="508000" y="4876799"/>
            <a:ext cx="482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b="1">
                <a:solidFill>
                  <a:srgbClr val="24674E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03</a:t>
            </a:r>
            <a:endParaRPr kumimoji="1" lang="ja-JP" altLang="en-US" b="1">
              <a:solidFill>
                <a:srgbClr val="24674E"/>
              </a:solidFill>
              <a:latin typeface="Meiryo" panose="020B0604030504040204" pitchFamily="50" charset="-128"/>
              <a:ea typeface="Meiryo" panose="020B0604030504040204" pitchFamily="50" charset="-128"/>
            </a:endParaRPr>
          </a:p>
        </p:txBody>
      </p:sp>
      <p:sp>
        <p:nvSpPr>
          <p:cNvPr id="13" name="Step3">
            <a:extLst>
              <a:ext uri="{FF2B5EF4-FFF2-40B4-BE49-F238E27FC236}">
                <a16:creationId xmlns:a16="http://schemas.microsoft.com/office/drawing/2014/main" id="{C1C01B6E-5DA4-DF47-4AC4-DE5908977A5B}"/>
              </a:ext>
            </a:extLst>
          </p:cNvPr>
          <p:cNvSpPr txBox="1"/>
          <p:nvPr/>
        </p:nvSpPr>
        <p:spPr>
          <a:xfrm>
            <a:off x="1066800" y="4851399"/>
            <a:ext cx="49022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画面操作・入力を自動実行し、</a:t>
            </a:r>
          </a:p>
          <a:p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結果を記録する</a:t>
            </a:r>
          </a:p>
        </p:txBody>
      </p:sp>
      <p:sp>
        <p:nvSpPr>
          <p:cNvPr id="14" name="EvaluationHeading">
            <a:extLst>
              <a:ext uri="{FF2B5EF4-FFF2-40B4-BE49-F238E27FC236}">
                <a16:creationId xmlns:a16="http://schemas.microsoft.com/office/drawing/2014/main" id="{5194E21C-25E6-55D1-3591-0A23CFF48477}"/>
              </a:ext>
            </a:extLst>
          </p:cNvPr>
          <p:cNvSpPr txBox="1"/>
          <p:nvPr/>
        </p:nvSpPr>
        <p:spPr>
          <a:xfrm>
            <a:off x="6527800" y="2844799"/>
            <a:ext cx="51562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100" b="1">
                <a:solidFill>
                  <a:srgbClr val="24674E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PoC</a:t>
            </a:r>
            <a:r>
              <a:rPr kumimoji="1" lang="ja-JP" altLang="en-US" sz="2100" b="1">
                <a:solidFill>
                  <a:srgbClr val="24674E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の評価（案）</a:t>
            </a:r>
          </a:p>
        </p:txBody>
      </p:sp>
      <p:sp>
        <p:nvSpPr>
          <p:cNvPr id="15" name="Method">
            <a:extLst>
              <a:ext uri="{FF2B5EF4-FFF2-40B4-BE49-F238E27FC236}">
                <a16:creationId xmlns:a16="http://schemas.microsoft.com/office/drawing/2014/main" id="{363BC46F-A0A9-B0B2-049A-B65656EF2C5D}"/>
              </a:ext>
            </a:extLst>
          </p:cNvPr>
          <p:cNvSpPr txBox="1"/>
          <p:nvPr/>
        </p:nvSpPr>
        <p:spPr>
          <a:xfrm>
            <a:off x="6527800" y="3378199"/>
            <a:ext cx="51562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同じ対象・課題を、手作業とアプリで比較。</a:t>
            </a:r>
          </a:p>
          <a:p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資料の精度・担当者の経験を変えて試す。</a:t>
            </a:r>
          </a:p>
        </p:txBody>
      </p:sp>
      <p:sp>
        <p:nvSpPr>
          <p:cNvPr id="16" name="MetricLabel0">
            <a:extLst>
              <a:ext uri="{FF2B5EF4-FFF2-40B4-BE49-F238E27FC236}">
                <a16:creationId xmlns:a16="http://schemas.microsoft.com/office/drawing/2014/main" id="{BA6E7DDA-AA6E-5092-1FC4-3A94AE8F7D9F}"/>
              </a:ext>
            </a:extLst>
          </p:cNvPr>
          <p:cNvSpPr txBox="1"/>
          <p:nvPr/>
        </p:nvSpPr>
        <p:spPr>
          <a:xfrm>
            <a:off x="6527800" y="4165599"/>
            <a:ext cx="838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 b="1">
                <a:solidFill>
                  <a:srgbClr val="24674E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効率</a:t>
            </a:r>
          </a:p>
        </p:txBody>
      </p:sp>
      <p:sp>
        <p:nvSpPr>
          <p:cNvPr id="17" name="MetricValue0">
            <a:extLst>
              <a:ext uri="{FF2B5EF4-FFF2-40B4-BE49-F238E27FC236}">
                <a16:creationId xmlns:a16="http://schemas.microsoft.com/office/drawing/2014/main" id="{46FA791D-BEF6-8B43-10E0-76AC665EBE81}"/>
              </a:ext>
            </a:extLst>
          </p:cNvPr>
          <p:cNvSpPr txBox="1"/>
          <p:nvPr/>
        </p:nvSpPr>
        <p:spPr>
          <a:xfrm>
            <a:off x="7543800" y="4165599"/>
            <a:ext cx="4140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設計・レビュー・実行の総工数</a:t>
            </a:r>
          </a:p>
        </p:txBody>
      </p:sp>
      <p:sp>
        <p:nvSpPr>
          <p:cNvPr id="18" name="MetricLabel1">
            <a:extLst>
              <a:ext uri="{FF2B5EF4-FFF2-40B4-BE49-F238E27FC236}">
                <a16:creationId xmlns:a16="http://schemas.microsoft.com/office/drawing/2014/main" id="{1D567490-7A1A-9764-B208-CB38FBD8B243}"/>
              </a:ext>
            </a:extLst>
          </p:cNvPr>
          <p:cNvSpPr txBox="1"/>
          <p:nvPr/>
        </p:nvSpPr>
        <p:spPr>
          <a:xfrm>
            <a:off x="6527800" y="4597399"/>
            <a:ext cx="838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 b="1">
                <a:solidFill>
                  <a:srgbClr val="24674E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コスト</a:t>
            </a:r>
          </a:p>
        </p:txBody>
      </p:sp>
      <p:sp>
        <p:nvSpPr>
          <p:cNvPr id="19" name="MetricValue1">
            <a:extLst>
              <a:ext uri="{FF2B5EF4-FFF2-40B4-BE49-F238E27FC236}">
                <a16:creationId xmlns:a16="http://schemas.microsoft.com/office/drawing/2014/main" id="{0DEEB29D-6B4C-4872-96C9-AFEF2DA31FB9}"/>
              </a:ext>
            </a:extLst>
          </p:cNvPr>
          <p:cNvSpPr txBox="1"/>
          <p:nvPr/>
        </p:nvSpPr>
        <p:spPr>
          <a:xfrm>
            <a:off x="7543800" y="4597399"/>
            <a:ext cx="4140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人件費＋</a:t>
            </a:r>
            <a:r>
              <a:rPr kumimoji="1" lang="en-US" altLang="ja-JP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AI</a:t>
            </a:r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・ツール利用料</a:t>
            </a:r>
          </a:p>
        </p:txBody>
      </p:sp>
      <p:sp>
        <p:nvSpPr>
          <p:cNvPr id="20" name="MetricLabel2">
            <a:extLst>
              <a:ext uri="{FF2B5EF4-FFF2-40B4-BE49-F238E27FC236}">
                <a16:creationId xmlns:a16="http://schemas.microsoft.com/office/drawing/2014/main" id="{8EDBADFC-C75E-FBBA-D838-C7F5C7D7B0AC}"/>
              </a:ext>
            </a:extLst>
          </p:cNvPr>
          <p:cNvSpPr txBox="1"/>
          <p:nvPr/>
        </p:nvSpPr>
        <p:spPr>
          <a:xfrm>
            <a:off x="6527800" y="5029199"/>
            <a:ext cx="838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 b="1">
                <a:solidFill>
                  <a:srgbClr val="24674E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品質</a:t>
            </a:r>
          </a:p>
        </p:txBody>
      </p:sp>
      <p:sp>
        <p:nvSpPr>
          <p:cNvPr id="21" name="MetricValue2">
            <a:extLst>
              <a:ext uri="{FF2B5EF4-FFF2-40B4-BE49-F238E27FC236}">
                <a16:creationId xmlns:a16="http://schemas.microsoft.com/office/drawing/2014/main" id="{610DE7D9-B6B2-9966-51C2-D95791939273}"/>
              </a:ext>
            </a:extLst>
          </p:cNvPr>
          <p:cNvSpPr txBox="1"/>
          <p:nvPr/>
        </p:nvSpPr>
        <p:spPr>
          <a:xfrm>
            <a:off x="7543800" y="5029199"/>
            <a:ext cx="4140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観点の妥当性・見逃し・修正量</a:t>
            </a:r>
          </a:p>
        </p:txBody>
      </p:sp>
      <p:sp>
        <p:nvSpPr>
          <p:cNvPr id="22" name="Decision">
            <a:extLst>
              <a:ext uri="{FF2B5EF4-FFF2-40B4-BE49-F238E27FC236}">
                <a16:creationId xmlns:a16="http://schemas.microsoft.com/office/drawing/2014/main" id="{F1C7C713-D80B-713C-E36C-54C4F77E1FF1}"/>
              </a:ext>
            </a:extLst>
          </p:cNvPr>
          <p:cNvSpPr txBox="1"/>
          <p:nvPr/>
        </p:nvSpPr>
        <p:spPr>
          <a:xfrm>
            <a:off x="508000" y="5829299"/>
            <a:ext cx="11176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b="1">
                <a:solidFill>
                  <a:srgbClr val="243730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導入判断：品質を維持し、確認・修正を含む総工数と総費用を減らせるか</a:t>
            </a:r>
          </a:p>
        </p:txBody>
      </p:sp>
      <p:sp>
        <p:nvSpPr>
          <p:cNvPr id="23" name="Status">
            <a:extLst>
              <a:ext uri="{FF2B5EF4-FFF2-40B4-BE49-F238E27FC236}">
                <a16:creationId xmlns:a16="http://schemas.microsoft.com/office/drawing/2014/main" id="{095D3F10-BDDF-FB24-0C66-3A13D53F2744}"/>
              </a:ext>
            </a:extLst>
          </p:cNvPr>
          <p:cNvSpPr txBox="1"/>
          <p:nvPr/>
        </p:nvSpPr>
        <p:spPr>
          <a:xfrm>
            <a:off x="508000" y="6438900"/>
            <a:ext cx="111760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200">
                <a:solidFill>
                  <a:srgbClr val="607269"/>
                </a:solidFill>
                <a:latin typeface="Meiryo" panose="020B0604030504040204" pitchFamily="50" charset="-128"/>
                <a:ea typeface="Meiryo" panose="020B0604030504040204" pitchFamily="50" charset="-128"/>
              </a:rPr>
              <a:t>現物を確認した観点導出は今後の実装・検証対象。工数・費用の削減効果は未検証。</a:t>
            </a:r>
          </a:p>
        </p:txBody>
      </p:sp>
    </p:spTree>
    <p:extLst>
      <p:ext uri="{BB962C8B-B14F-4D97-AF65-F5344CB8AC3E}">
        <p14:creationId xmlns:p14="http://schemas.microsoft.com/office/powerpoint/2010/main" val="596473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ユーザー設定</PresentationFormat>
  <Paragraphs>27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 Sugawara</dc:creator>
  <cp:lastModifiedBy>Go Sugawara</cp:lastModifiedBy>
  <cp:revision>1</cp:revision>
  <dcterms:created xsi:type="dcterms:W3CDTF">2026-09-30T15:26:31Z</dcterms:created>
  <dcterms:modified xsi:type="dcterms:W3CDTF">2026-09-30T15:26:31Z</dcterms:modified>
</cp:coreProperties>
</file>